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12177-FC40-484B-AB33-F1814068B734}" v="2" dt="2026-06-12T12:25:17.5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THICK S" userId="d08acf7aad9ae3e7" providerId="LiveId" clId="{960CE772-A919-42BB-B9F7-7954B6FCA132}"/>
    <pc:docChg chg="custSel addSld delSld modSld">
      <pc:chgData name="KARTHICK S" userId="d08acf7aad9ae3e7" providerId="LiveId" clId="{960CE772-A919-42BB-B9F7-7954B6FCA132}" dt="2026-06-12T15:14:06.229" v="284" actId="14100"/>
      <pc:docMkLst>
        <pc:docMk/>
      </pc:docMkLst>
      <pc:sldChg chg="modSp mod">
        <pc:chgData name="KARTHICK S" userId="d08acf7aad9ae3e7" providerId="LiveId" clId="{960CE772-A919-42BB-B9F7-7954B6FCA132}" dt="2026-06-10T14:02:56.268" v="133" actId="20577"/>
        <pc:sldMkLst>
          <pc:docMk/>
          <pc:sldMk cId="0" sldId="256"/>
        </pc:sldMkLst>
        <pc:spChg chg="mod">
          <ac:chgData name="KARTHICK S" userId="d08acf7aad9ae3e7" providerId="LiveId" clId="{960CE772-A919-42BB-B9F7-7954B6FCA132}" dt="2026-06-10T14:02:44.197" v="132" actId="14100"/>
          <ac:spMkLst>
            <pc:docMk/>
            <pc:sldMk cId="0" sldId="256"/>
            <ac:spMk id="9" creationId="{00000000-0000-0000-0000-000000000000}"/>
          </ac:spMkLst>
        </pc:spChg>
        <pc:spChg chg="mod">
          <ac:chgData name="KARTHICK S" userId="d08acf7aad9ae3e7" providerId="LiveId" clId="{960CE772-A919-42BB-B9F7-7954B6FCA132}" dt="2026-06-10T13:57:34.442" v="25" actId="20577"/>
          <ac:spMkLst>
            <pc:docMk/>
            <pc:sldMk cId="0" sldId="256"/>
            <ac:spMk id="11" creationId="{00000000-0000-0000-0000-000000000000}"/>
          </ac:spMkLst>
        </pc:spChg>
        <pc:spChg chg="mod">
          <ac:chgData name="KARTHICK S" userId="d08acf7aad9ae3e7" providerId="LiveId" clId="{960CE772-A919-42BB-B9F7-7954B6FCA132}" dt="2026-06-10T13:58:16.545" v="70" actId="20577"/>
          <ac:spMkLst>
            <pc:docMk/>
            <pc:sldMk cId="0" sldId="256"/>
            <ac:spMk id="13" creationId="{00000000-0000-0000-0000-000000000000}"/>
          </ac:spMkLst>
        </pc:spChg>
        <pc:spChg chg="mod">
          <ac:chgData name="KARTHICK S" userId="d08acf7aad9ae3e7" providerId="LiveId" clId="{960CE772-A919-42BB-B9F7-7954B6FCA132}" dt="2026-06-10T14:01:18.779" v="110" actId="20577"/>
          <ac:spMkLst>
            <pc:docMk/>
            <pc:sldMk cId="0" sldId="256"/>
            <ac:spMk id="15" creationId="{00000000-0000-0000-0000-000000000000}"/>
          </ac:spMkLst>
        </pc:spChg>
        <pc:spChg chg="mod">
          <ac:chgData name="KARTHICK S" userId="d08acf7aad9ae3e7" providerId="LiveId" clId="{960CE772-A919-42BB-B9F7-7954B6FCA132}" dt="2026-06-10T14:02:56.268" v="133" actId="20577"/>
          <ac:spMkLst>
            <pc:docMk/>
            <pc:sldMk cId="0" sldId="256"/>
            <ac:spMk id="16" creationId="{00000000-0000-0000-0000-000000000000}"/>
          </ac:spMkLst>
        </pc:spChg>
        <pc:spChg chg="mod">
          <ac:chgData name="KARTHICK S" userId="d08acf7aad9ae3e7" providerId="LiveId" clId="{960CE772-A919-42BB-B9F7-7954B6FCA132}" dt="2026-06-10T14:02:12.928" v="126" actId="20577"/>
          <ac:spMkLst>
            <pc:docMk/>
            <pc:sldMk cId="0" sldId="256"/>
            <ac:spMk id="17" creationId="{00000000-0000-0000-0000-000000000000}"/>
          </ac:spMkLst>
        </pc:spChg>
      </pc:sldChg>
      <pc:sldChg chg="addSp delSp modSp mod">
        <pc:chgData name="KARTHICK S" userId="d08acf7aad9ae3e7" providerId="LiveId" clId="{960CE772-A919-42BB-B9F7-7954B6FCA132}" dt="2026-06-12T15:14:06.229" v="284" actId="14100"/>
        <pc:sldMkLst>
          <pc:docMk/>
          <pc:sldMk cId="0" sldId="260"/>
        </pc:sldMkLst>
        <pc:spChg chg="mod">
          <ac:chgData name="KARTHICK S" userId="d08acf7aad9ae3e7" providerId="LiveId" clId="{960CE772-A919-42BB-B9F7-7954B6FCA132}" dt="2026-06-12T15:11:05.865" v="254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KARTHICK S" userId="d08acf7aad9ae3e7" providerId="LiveId" clId="{960CE772-A919-42BB-B9F7-7954B6FCA132}" dt="2026-06-12T15:10:47.129" v="245" actId="14100"/>
          <ac:spMkLst>
            <pc:docMk/>
            <pc:sldMk cId="0" sldId="260"/>
            <ac:spMk id="5" creationId="{00000000-0000-0000-0000-000000000000}"/>
          </ac:spMkLst>
        </pc:spChg>
        <pc:spChg chg="mod">
          <ac:chgData name="KARTHICK S" userId="d08acf7aad9ae3e7" providerId="LiveId" clId="{960CE772-A919-42BB-B9F7-7954B6FCA132}" dt="2026-06-12T15:12:21.091" v="267" actId="14100"/>
          <ac:spMkLst>
            <pc:docMk/>
            <pc:sldMk cId="0" sldId="260"/>
            <ac:spMk id="6" creationId="{00000000-0000-0000-0000-000000000000}"/>
          </ac:spMkLst>
        </pc:spChg>
        <pc:spChg chg="del mod">
          <ac:chgData name="KARTHICK S" userId="d08acf7aad9ae3e7" providerId="LiveId" clId="{960CE772-A919-42BB-B9F7-7954B6FCA132}" dt="2026-06-12T15:11:34.618" v="257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0.293" v="260" actId="478"/>
          <ac:spMkLst>
            <pc:docMk/>
            <pc:sldMk cId="0" sldId="260"/>
            <ac:spMk id="8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45.341" v="259" actId="478"/>
          <ac:spMkLst>
            <pc:docMk/>
            <pc:sldMk cId="0" sldId="260"/>
            <ac:spMk id="9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0.293" v="260" actId="478"/>
          <ac:spMkLst>
            <pc:docMk/>
            <pc:sldMk cId="0" sldId="260"/>
            <ac:spMk id="10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45.341" v="259" actId="478"/>
          <ac:spMkLst>
            <pc:docMk/>
            <pc:sldMk cId="0" sldId="260"/>
            <ac:spMk id="11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45.341" v="259" actId="478"/>
          <ac:spMkLst>
            <pc:docMk/>
            <pc:sldMk cId="0" sldId="260"/>
            <ac:spMk id="12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0.293" v="260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45.341" v="259" actId="478"/>
          <ac:spMkLst>
            <pc:docMk/>
            <pc:sldMk cId="0" sldId="260"/>
            <ac:spMk id="14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45.341" v="259" actId="478"/>
          <ac:spMkLst>
            <pc:docMk/>
            <pc:sldMk cId="0" sldId="260"/>
            <ac:spMk id="15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0.293" v="260" actId="478"/>
          <ac:spMkLst>
            <pc:docMk/>
            <pc:sldMk cId="0" sldId="260"/>
            <ac:spMk id="16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45.341" v="259" actId="478"/>
          <ac:spMkLst>
            <pc:docMk/>
            <pc:sldMk cId="0" sldId="260"/>
            <ac:spMk id="17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45.341" v="259" actId="478"/>
          <ac:spMkLst>
            <pc:docMk/>
            <pc:sldMk cId="0" sldId="260"/>
            <ac:spMk id="18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0.293" v="260" actId="478"/>
          <ac:spMkLst>
            <pc:docMk/>
            <pc:sldMk cId="0" sldId="260"/>
            <ac:spMk id="19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45.341" v="259" actId="478"/>
          <ac:spMkLst>
            <pc:docMk/>
            <pc:sldMk cId="0" sldId="260"/>
            <ac:spMk id="20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45.341" v="259" actId="478"/>
          <ac:spMkLst>
            <pc:docMk/>
            <pc:sldMk cId="0" sldId="260"/>
            <ac:spMk id="21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0.293" v="260" actId="478"/>
          <ac:spMkLst>
            <pc:docMk/>
            <pc:sldMk cId="0" sldId="260"/>
            <ac:spMk id="22" creationId="{00000000-0000-0000-0000-000000000000}"/>
          </ac:spMkLst>
        </pc:spChg>
        <pc:spChg chg="mod">
          <ac:chgData name="KARTHICK S" userId="d08acf7aad9ae3e7" providerId="LiveId" clId="{960CE772-A919-42BB-B9F7-7954B6FCA132}" dt="2026-06-12T15:12:32.802" v="269" actId="14100"/>
          <ac:spMkLst>
            <pc:docMk/>
            <pc:sldMk cId="0" sldId="260"/>
            <ac:spMk id="23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07.328" v="264" actId="478"/>
          <ac:spMkLst>
            <pc:docMk/>
            <pc:sldMk cId="0" sldId="260"/>
            <ac:spMk id="24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11.882" v="265" actId="478"/>
          <ac:spMkLst>
            <pc:docMk/>
            <pc:sldMk cId="0" sldId="260"/>
            <ac:spMk id="25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07.328" v="264" actId="478"/>
          <ac:spMkLst>
            <pc:docMk/>
            <pc:sldMk cId="0" sldId="260"/>
            <ac:spMk id="26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9.197" v="262" actId="478"/>
          <ac:spMkLst>
            <pc:docMk/>
            <pc:sldMk cId="0" sldId="260"/>
            <ac:spMk id="27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11.882" v="265" actId="478"/>
          <ac:spMkLst>
            <pc:docMk/>
            <pc:sldMk cId="0" sldId="260"/>
            <ac:spMk id="28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07.328" v="264" actId="478"/>
          <ac:spMkLst>
            <pc:docMk/>
            <pc:sldMk cId="0" sldId="260"/>
            <ac:spMk id="29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9.197" v="262" actId="478"/>
          <ac:spMkLst>
            <pc:docMk/>
            <pc:sldMk cId="0" sldId="260"/>
            <ac:spMk id="30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11.882" v="265" actId="478"/>
          <ac:spMkLst>
            <pc:docMk/>
            <pc:sldMk cId="0" sldId="260"/>
            <ac:spMk id="31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07.328" v="264" actId="478"/>
          <ac:spMkLst>
            <pc:docMk/>
            <pc:sldMk cId="0" sldId="260"/>
            <ac:spMk id="32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9.197" v="262" actId="478"/>
          <ac:spMkLst>
            <pc:docMk/>
            <pc:sldMk cId="0" sldId="260"/>
            <ac:spMk id="33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11.882" v="265" actId="478"/>
          <ac:spMkLst>
            <pc:docMk/>
            <pc:sldMk cId="0" sldId="260"/>
            <ac:spMk id="34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07.328" v="264" actId="478"/>
          <ac:spMkLst>
            <pc:docMk/>
            <pc:sldMk cId="0" sldId="260"/>
            <ac:spMk id="35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9.197" v="262" actId="478"/>
          <ac:spMkLst>
            <pc:docMk/>
            <pc:sldMk cId="0" sldId="260"/>
            <ac:spMk id="36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11.882" v="265" actId="478"/>
          <ac:spMkLst>
            <pc:docMk/>
            <pc:sldMk cId="0" sldId="260"/>
            <ac:spMk id="37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2:07.328" v="264" actId="478"/>
          <ac:spMkLst>
            <pc:docMk/>
            <pc:sldMk cId="0" sldId="260"/>
            <ac:spMk id="38" creationId="{00000000-0000-0000-0000-000000000000}"/>
          </ac:spMkLst>
        </pc:spChg>
        <pc:spChg chg="del">
          <ac:chgData name="KARTHICK S" userId="d08acf7aad9ae3e7" providerId="LiveId" clId="{960CE772-A919-42BB-B9F7-7954B6FCA132}" dt="2026-06-12T15:11:59.197" v="262" actId="478"/>
          <ac:spMkLst>
            <pc:docMk/>
            <pc:sldMk cId="0" sldId="260"/>
            <ac:spMk id="39" creationId="{00000000-0000-0000-0000-000000000000}"/>
          </ac:spMkLst>
        </pc:spChg>
        <pc:picChg chg="add mod">
          <ac:chgData name="KARTHICK S" userId="d08acf7aad9ae3e7" providerId="LiveId" clId="{960CE772-A919-42BB-B9F7-7954B6FCA132}" dt="2026-06-12T15:13:30.231" v="278" actId="14100"/>
          <ac:picMkLst>
            <pc:docMk/>
            <pc:sldMk cId="0" sldId="260"/>
            <ac:picMk id="41" creationId="{E4FF7FC2-D449-783F-E6F4-DE2950DC1AC6}"/>
          </ac:picMkLst>
        </pc:picChg>
        <pc:picChg chg="add mod">
          <ac:chgData name="KARTHICK S" userId="d08acf7aad9ae3e7" providerId="LiveId" clId="{960CE772-A919-42BB-B9F7-7954B6FCA132}" dt="2026-06-12T15:14:06.229" v="284" actId="14100"/>
          <ac:picMkLst>
            <pc:docMk/>
            <pc:sldMk cId="0" sldId="260"/>
            <ac:picMk id="43" creationId="{585750EA-6D56-7A5C-3338-1A7AB36FC0A3}"/>
          </ac:picMkLst>
        </pc:picChg>
      </pc:sldChg>
      <pc:sldChg chg="modSp mod">
        <pc:chgData name="KARTHICK S" userId="d08acf7aad9ae3e7" providerId="LiveId" clId="{960CE772-A919-42BB-B9F7-7954B6FCA132}" dt="2026-06-10T14:06:33.509" v="218" actId="14100"/>
        <pc:sldMkLst>
          <pc:docMk/>
          <pc:sldMk cId="0" sldId="270"/>
        </pc:sldMkLst>
        <pc:spChg chg="mod">
          <ac:chgData name="KARTHICK S" userId="d08acf7aad9ae3e7" providerId="LiveId" clId="{960CE772-A919-42BB-B9F7-7954B6FCA132}" dt="2026-06-10T14:04:13.843" v="152" actId="20577"/>
          <ac:spMkLst>
            <pc:docMk/>
            <pc:sldMk cId="0" sldId="270"/>
            <ac:spMk id="6" creationId="{00000000-0000-0000-0000-000000000000}"/>
          </ac:spMkLst>
        </pc:spChg>
        <pc:spChg chg="mod">
          <ac:chgData name="KARTHICK S" userId="d08acf7aad9ae3e7" providerId="LiveId" clId="{960CE772-A919-42BB-B9F7-7954B6FCA132}" dt="2026-06-10T14:04:27.496" v="153" actId="1076"/>
          <ac:spMkLst>
            <pc:docMk/>
            <pc:sldMk cId="0" sldId="270"/>
            <ac:spMk id="7" creationId="{00000000-0000-0000-0000-000000000000}"/>
          </ac:spMkLst>
        </pc:spChg>
        <pc:spChg chg="mod">
          <ac:chgData name="KARTHICK S" userId="d08acf7aad9ae3e7" providerId="LiveId" clId="{960CE772-A919-42BB-B9F7-7954B6FCA132}" dt="2026-06-10T14:06:33.509" v="218" actId="14100"/>
          <ac:spMkLst>
            <pc:docMk/>
            <pc:sldMk cId="0" sldId="270"/>
            <ac:spMk id="8" creationId="{00000000-0000-0000-0000-000000000000}"/>
          </ac:spMkLst>
        </pc:spChg>
        <pc:spChg chg="mod">
          <ac:chgData name="KARTHICK S" userId="d08acf7aad9ae3e7" providerId="LiveId" clId="{960CE772-A919-42BB-B9F7-7954B6FCA132}" dt="2026-06-10T14:06:15.979" v="217" actId="20577"/>
          <ac:spMkLst>
            <pc:docMk/>
            <pc:sldMk cId="0" sldId="270"/>
            <ac:spMk id="9" creationId="{00000000-0000-0000-0000-000000000000}"/>
          </ac:spMkLst>
        </pc:spChg>
      </pc:sldChg>
      <pc:sldChg chg="add del setBg">
        <pc:chgData name="KARTHICK S" userId="d08acf7aad9ae3e7" providerId="LiveId" clId="{960CE772-A919-42BB-B9F7-7954B6FCA132}" dt="2026-06-12T12:25:17.561" v="220"/>
        <pc:sldMkLst>
          <pc:docMk/>
          <pc:sldMk cId="3602792880" sldId="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3186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4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54864" cy="420624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40080"/>
            <a:ext cx="1463040" cy="1645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486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40080" y="13258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System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640080" y="2240280"/>
            <a:ext cx="5029200" cy="36576"/>
          </a:xfrm>
          <a:prstGeom prst="rect">
            <a:avLst/>
          </a:prstGeom>
          <a:solidFill>
            <a:srgbClr val="A8C0E0"/>
          </a:solidFill>
          <a:ln w="12700">
            <a:solidFill>
              <a:srgbClr val="A8C0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548640" y="2423160"/>
            <a:ext cx="8046720" cy="1741932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Text 7"/>
          <p:cNvSpPr/>
          <p:nvPr/>
        </p:nvSpPr>
        <p:spPr>
          <a:xfrm>
            <a:off x="822960" y="2578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Name: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017520" y="25786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KARTHICK 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305409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Department: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017520" y="3054096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AI&amp;DS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35295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College: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017520" y="352958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VSB ENGINEERING COLLEGE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4005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017520" y="400507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37160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645920" cy="1828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1417320"/>
            <a:ext cx="6400800" cy="1417320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548640" y="150876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Digital Certificate Verification System?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an automated online platform that allows institutions to issue, manage, and validate academic or professional certificates securely using unique IDs, QR codes, and encrypted databases.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65760" y="2971800"/>
            <a:ext cx="406908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136392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87552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Forgery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987552" y="32918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fake certificate submissions with cryptographic validation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17720" y="2971800"/>
            <a:ext cx="406908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3136392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239512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Validation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239512" y="32918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verification replaces slow, error-prone manual checks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65760" y="3867912"/>
            <a:ext cx="406908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4032504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7552" y="3922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Integrity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987552" y="41879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credibility of educational achievements across institutions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617720" y="3867912"/>
            <a:ext cx="406908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7448" y="4032504"/>
            <a:ext cx="411480" cy="4114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239512" y="3922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&amp; Efficient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239512" y="41879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thousands of verifications simultaneously without delay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37160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2743200" cy="342900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1417320"/>
            <a:ext cx="2743200" cy="1097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627632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0040" y="22128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Certificates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65760" y="269748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Rising incidents of forged academic credentials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Fraudulent certificates bypass manual inspection easily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Significant damage to institutional reputation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54680" y="1417320"/>
            <a:ext cx="2743200" cy="342900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3154680" y="1417320"/>
            <a:ext cx="274320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627632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246120" y="22128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Verification Challenges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291840" y="269748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Physical verification requires significant human effort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 centralized database for cross-checking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Highly prone to human error and oversight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80760" y="1417320"/>
            <a:ext cx="2743200" cy="342900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6080760" y="1417320"/>
            <a:ext cx="2743200" cy="1097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1627632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72200" y="22128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Time-Consuming Process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17920" y="269748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Traditional methods take days or weeks to verify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Organizations face bottlenecks during high-demand periods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 real-time validation capability exists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09728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85800"/>
            <a:ext cx="1554480" cy="1554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1417320"/>
            <a:ext cx="8412480" cy="621792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365760" y="1417320"/>
            <a:ext cx="54864" cy="62179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475488" y="152704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14721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Verification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97280" y="1728216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instant, automated verification of academic and professional certificates via unique IDs and QR codes.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65760" y="2121408"/>
            <a:ext cx="8412480" cy="621792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365760" y="2121408"/>
            <a:ext cx="54864" cy="6217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475488" y="223113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097280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Certificate Fraud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97280" y="243230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 the use of forged credentials through secure encrypted certificate storage and real-time validation.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65760" y="2825496"/>
            <a:ext cx="8412480" cy="621792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365760" y="2825496"/>
            <a:ext cx="54864" cy="6217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475488" y="2935224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097280" y="2880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Security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97280" y="313639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multi-layer security using admin authentication, database encryption, and access control.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529584"/>
            <a:ext cx="8412480" cy="621792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365760" y="3529584"/>
            <a:ext cx="54864" cy="62179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475488" y="36393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097280" y="3584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Efficiency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097280" y="38404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time-consuming manual processes with an automated platform accessible 24/7 by employers and institutions.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65760" y="4233672"/>
            <a:ext cx="8412480" cy="621792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365760" y="4233672"/>
            <a:ext cx="54864" cy="6217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475488" y="43434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097280" y="42885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Management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097280" y="454456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single dashboard for admins to upload, manage, search, and audit all certificate records.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63827" y="4297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bg1"/>
                </a:solidFill>
              </a:rPr>
              <a:t>USE CASE AND ER DIAGRAM</a:t>
            </a:r>
          </a:p>
        </p:txBody>
      </p:sp>
      <p:sp>
        <p:nvSpPr>
          <p:cNvPr id="5" name="Shape 3"/>
          <p:cNvSpPr/>
          <p:nvPr/>
        </p:nvSpPr>
        <p:spPr>
          <a:xfrm flipV="1">
            <a:off x="0" y="873253"/>
            <a:ext cx="9144000" cy="45719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4709160" y="1394460"/>
            <a:ext cx="4160519" cy="3424427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28601" y="1394460"/>
            <a:ext cx="4160519" cy="3424427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E4FF7FC2-D449-783F-E6F4-DE2950DC1A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84" y="1453896"/>
            <a:ext cx="3987384" cy="3259835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585750EA-6D56-7A5C-3338-1A7AB36FC0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861" y="1474433"/>
            <a:ext cx="4032355" cy="32392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18872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2788920" cy="160020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78892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0020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15636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Certificate Upload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84048" y="2029968"/>
            <a:ext cx="2578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upload verified certificates with student details, department info, and unique identifiers into a centralized database.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18688" y="1417320"/>
            <a:ext cx="2788920" cy="160020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3218688" y="1417320"/>
            <a:ext cx="278892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600200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813048" y="15636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Generation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328416" y="2029968"/>
            <a:ext cx="2578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certificate receives a unique QR code linking to the verification record — scannable by any device instantly.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788920" cy="160020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6163056" y="1417320"/>
            <a:ext cx="2788920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1600200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57416" y="15636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Verification Portal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272784" y="2029968"/>
            <a:ext cx="2578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and institutions can verify any certificate by entering the certificate ID or scanning the QR code.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274320" y="3154680"/>
            <a:ext cx="2788920" cy="160020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274320" y="3154680"/>
            <a:ext cx="2788920" cy="6400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337560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68680" y="33009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Database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384048" y="3767328"/>
            <a:ext cx="2578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certificate records are stored in a MySQL database with secure access controls and full audit logging.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218688" y="3154680"/>
            <a:ext cx="2788920" cy="160020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Shape 21"/>
          <p:cNvSpPr/>
          <p:nvPr/>
        </p:nvSpPr>
        <p:spPr>
          <a:xfrm>
            <a:off x="3218688" y="3154680"/>
            <a:ext cx="2788920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55848" y="3337560"/>
            <a:ext cx="384048" cy="3840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813048" y="33009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3328416" y="3767328"/>
            <a:ext cx="2578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email alerts notify students and admins upon certificate issuance, verification attempts, and status changes.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163056" y="3154680"/>
            <a:ext cx="2788920" cy="160020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25"/>
          <p:cNvSpPr/>
          <p:nvPr/>
        </p:nvSpPr>
        <p:spPr>
          <a:xfrm>
            <a:off x="6163056" y="3154680"/>
            <a:ext cx="278892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0216" y="3337560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757416" y="33009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6272784" y="3767328"/>
            <a:ext cx="2578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admin and user roles ensure only authorized personnel can manage or modify certificate records.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37160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2331720" cy="141732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20040" y="1463040"/>
            <a:ext cx="233172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27632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93192" y="221284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Module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93192" y="251460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upload, manage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&amp; records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74720" y="1463040"/>
            <a:ext cx="2331720" cy="141732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3474720" y="1463040"/>
            <a:ext cx="233172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627632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21284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Student/User Module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547872" y="251460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scan QR code,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certificate status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629400" y="1463040"/>
            <a:ext cx="2331720" cy="141732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6629400" y="1463040"/>
            <a:ext cx="233172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627632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02552" y="221284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Module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702552" y="251460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certificate ID,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result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2670048" y="2167128"/>
            <a:ext cx="804672" cy="0"/>
          </a:xfrm>
          <a:prstGeom prst="line">
            <a:avLst/>
          </a:prstGeom>
          <a:noFill/>
          <a:ln w="25400">
            <a:solidFill>
              <a:srgbClr val="E8A02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5824728" y="2167128"/>
            <a:ext cx="804672" cy="0"/>
          </a:xfrm>
          <a:prstGeom prst="line">
            <a:avLst/>
          </a:prstGeom>
          <a:noFill/>
          <a:ln w="25400">
            <a:solidFill>
              <a:srgbClr val="E8A02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3246120" y="3063240"/>
            <a:ext cx="2651760" cy="1719072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3246120" y="3063240"/>
            <a:ext cx="265176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0" y="3218688"/>
            <a:ext cx="640080" cy="6858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3337560" y="3977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3337560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Student Records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Data · Verification Logs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1481328" y="2880360"/>
            <a:ext cx="0" cy="164592"/>
          </a:xfrm>
          <a:prstGeom prst="line">
            <a:avLst/>
          </a:prstGeom>
          <a:noFill/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3"/>
          <p:cNvSpPr/>
          <p:nvPr/>
        </p:nvSpPr>
        <p:spPr>
          <a:xfrm>
            <a:off x="1481328" y="2880360"/>
            <a:ext cx="2267712" cy="0"/>
          </a:xfrm>
          <a:prstGeom prst="line">
            <a:avLst/>
          </a:prstGeom>
          <a:noFill/>
          <a:ln w="25400">
            <a:solidFill>
              <a:srgbClr val="E8A02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4"/>
          <p:cNvSpPr/>
          <p:nvPr/>
        </p:nvSpPr>
        <p:spPr>
          <a:xfrm>
            <a:off x="7790688" y="2880360"/>
            <a:ext cx="0" cy="164592"/>
          </a:xfrm>
          <a:prstGeom prst="line">
            <a:avLst/>
          </a:prstGeom>
          <a:noFill/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4572000" y="2880360"/>
            <a:ext cx="3218688" cy="0"/>
          </a:xfrm>
          <a:prstGeom prst="line">
            <a:avLst/>
          </a:prstGeom>
          <a:noFill/>
          <a:ln w="25400">
            <a:solidFill>
              <a:srgbClr val="E8A02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4572000" y="2880360"/>
            <a:ext cx="0" cy="182880"/>
          </a:xfrm>
          <a:prstGeom prst="line">
            <a:avLst/>
          </a:prstGeom>
          <a:noFill/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28016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4206240" cy="1627632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4206240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74320" y="1417320"/>
            <a:ext cx="54864" cy="16276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57200" y="15453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1947672"/>
            <a:ext cx="38404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HTML5 – Structure &amp; layout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CSS3 – Responsive styling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– Dynamic interactions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9160" y="1417320"/>
            <a:ext cx="4206240" cy="1627632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420624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54864" cy="16276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92040" y="15453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92040" y="1947672"/>
            <a:ext cx="38404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PHP – Server-side scripting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Session management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Form processing &amp; routing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206240" cy="1627632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74320" y="3200400"/>
            <a:ext cx="420624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274320" y="3200400"/>
            <a:ext cx="54864" cy="16276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57200" y="33284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3730752"/>
            <a:ext cx="38404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MySQL – Data storage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Relational schema design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Stored procedures &amp; queries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09160" y="3200400"/>
            <a:ext cx="4206240" cy="1627632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709160" y="3200400"/>
            <a:ext cx="420624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4709160" y="3200400"/>
            <a:ext cx="54864" cy="162763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892040" y="33284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892040" y="3730752"/>
            <a:ext cx="38404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QR Code – Certificate linking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Email Verification – SMTP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MD5 / SHA Encryption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73152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8503920" cy="621792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54864" cy="62179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545336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14721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Admin Login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60120" y="1728216"/>
            <a:ext cx="7726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authentication for admin panel with session management and access control.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0040" y="2112264"/>
            <a:ext cx="8503920" cy="621792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320040" y="2112264"/>
            <a:ext cx="54864" cy="6217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24028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60120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Certificate Upload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960120" y="2423160"/>
            <a:ext cx="7726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uploads certificate details along with student data and document files.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0040" y="2807208"/>
            <a:ext cx="8503920" cy="621792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320040" y="2807208"/>
            <a:ext cx="54864" cy="6217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2935224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60120" y="28620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Certificate Management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960120" y="3118104"/>
            <a:ext cx="7726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view, delete, and audit all certificate records from a centralized dashboard.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320040" y="3502152"/>
            <a:ext cx="8503920" cy="621792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320040" y="3502152"/>
            <a:ext cx="54864" cy="62179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3630168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60120" y="3557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Verification Portal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960120" y="3813048"/>
            <a:ext cx="7726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portal for anyone to verify certificate authenticity by ID or QR code scan.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320040" y="4197096"/>
            <a:ext cx="8503920" cy="621792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Shape 21"/>
          <p:cNvSpPr/>
          <p:nvPr/>
        </p:nvSpPr>
        <p:spPr>
          <a:xfrm>
            <a:off x="320040" y="4197096"/>
            <a:ext cx="54864" cy="6217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" y="4325112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60120" y="4251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User Search &amp; Validation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960120" y="4507992"/>
            <a:ext cx="7726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search and instant validation result display with detailed certificate info.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18872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4187952" cy="16642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4187952" cy="34747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tbl_admin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3192" y="1856232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84632" y="188366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admin_id (PK)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93192" y="2093976"/>
            <a:ext cx="4041648" cy="219456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84632" y="21214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3192" y="2331720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4632" y="23591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(hashed)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3192" y="2569464"/>
            <a:ext cx="4041648" cy="219456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84632" y="2596896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93192" y="2807208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84632" y="283464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created_at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36592" y="1417320"/>
            <a:ext cx="4187952" cy="16642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736592" y="1417320"/>
            <a:ext cx="4187952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828032" y="146304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tbl_students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09744" y="1856232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901184" y="188366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student_id (PK)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09744" y="2093976"/>
            <a:ext cx="4041648" cy="219456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901184" y="21214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full_name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09744" y="2331720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4901184" y="23591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809744" y="2569464"/>
            <a:ext cx="4041648" cy="219456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901184" y="2596896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year_of_passing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09744" y="2807208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901184" y="283464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3246120"/>
            <a:ext cx="4187952" cy="16642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320040" y="3246120"/>
            <a:ext cx="4187952" cy="34747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11480" y="329184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tbl_certificates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93192" y="3685032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84632" y="371246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cert_id (PK)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93192" y="3922776"/>
            <a:ext cx="4041648" cy="219456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484632" y="39502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student_id (FK)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93192" y="4160520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84632" y="41879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cert_number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93192" y="4398264"/>
            <a:ext cx="4041648" cy="219456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484632" y="4425696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issue_date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93192" y="4636008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484632" y="466344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qr_code_path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736592" y="3246120"/>
            <a:ext cx="4187952" cy="16642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4736592" y="3246120"/>
            <a:ext cx="4187952" cy="34747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4828032" y="329184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tbl_verification_logs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809744" y="3685032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901184" y="371246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log_id (PK)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809744" y="3922776"/>
            <a:ext cx="4041648" cy="219456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901184" y="39502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cert_id (FK)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809744" y="4160520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4901184" y="41879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verified_by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809744" y="4398264"/>
            <a:ext cx="4041648" cy="219456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4901184" y="4425696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809744" y="4636008"/>
            <a:ext cx="4041648" cy="219456"/>
          </a:xfrm>
          <a:prstGeom prst="rect">
            <a:avLst/>
          </a:prstGeom>
          <a:solidFill>
            <a:srgbClr val="243B55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4901184" y="466344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2296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1463040"/>
            <a:ext cx="2057400" cy="338328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74320" y="1463040"/>
            <a:ext cx="205740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987552" y="1600200"/>
            <a:ext cx="640080" cy="640080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987552" y="160934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2359152"/>
            <a:ext cx="548640" cy="548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65760" y="2999232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Uploads Certificate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65760" y="3547872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logs in and uploads certificate with student info to the system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331720" y="2240280"/>
            <a:ext cx="137160" cy="0"/>
          </a:xfrm>
          <a:prstGeom prst="line">
            <a:avLst/>
          </a:prstGeom>
          <a:noFill/>
          <a:ln w="3175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2468880" y="1463040"/>
            <a:ext cx="2057400" cy="338328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2"/>
          <p:cNvSpPr/>
          <p:nvPr/>
        </p:nvSpPr>
        <p:spPr>
          <a:xfrm>
            <a:off x="2468880" y="1463040"/>
            <a:ext cx="20574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3"/>
          <p:cNvSpPr/>
          <p:nvPr/>
        </p:nvSpPr>
        <p:spPr>
          <a:xfrm>
            <a:off x="3182112" y="1600200"/>
            <a:ext cx="640080" cy="6400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3182112" y="160934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832" y="2359152"/>
            <a:ext cx="548640" cy="5486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560320" y="2999232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Generated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560320" y="3547872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auto-generates unique QR code and certificate ID for the record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26280" y="2240280"/>
            <a:ext cx="137160" cy="0"/>
          </a:xfrm>
          <a:prstGeom prst="line">
            <a:avLst/>
          </a:prstGeom>
          <a:noFill/>
          <a:ln w="3175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8"/>
          <p:cNvSpPr/>
          <p:nvPr/>
        </p:nvSpPr>
        <p:spPr>
          <a:xfrm>
            <a:off x="4663440" y="1463040"/>
            <a:ext cx="2057400" cy="338328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19"/>
          <p:cNvSpPr/>
          <p:nvPr/>
        </p:nvSpPr>
        <p:spPr>
          <a:xfrm>
            <a:off x="4663440" y="1463040"/>
            <a:ext cx="20574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0"/>
          <p:cNvSpPr/>
          <p:nvPr/>
        </p:nvSpPr>
        <p:spPr>
          <a:xfrm>
            <a:off x="5376672" y="1600200"/>
            <a:ext cx="640080" cy="6400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1"/>
          <p:cNvSpPr/>
          <p:nvPr/>
        </p:nvSpPr>
        <p:spPr>
          <a:xfrm>
            <a:off x="5376672" y="160934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392" y="23591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754880" y="2999232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Queries Certificate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4754880" y="3547872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enters certificate ID or scans QR code on verification portal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720840" y="2240280"/>
            <a:ext cx="137160" cy="0"/>
          </a:xfrm>
          <a:prstGeom prst="line">
            <a:avLst/>
          </a:prstGeom>
          <a:noFill/>
          <a:ln w="3175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5"/>
          <p:cNvSpPr/>
          <p:nvPr/>
        </p:nvSpPr>
        <p:spPr>
          <a:xfrm>
            <a:off x="6858000" y="1463040"/>
            <a:ext cx="2057400" cy="338328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6"/>
          <p:cNvSpPr/>
          <p:nvPr/>
        </p:nvSpPr>
        <p:spPr>
          <a:xfrm>
            <a:off x="6858000" y="1463040"/>
            <a:ext cx="2057400" cy="7315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7"/>
          <p:cNvSpPr/>
          <p:nvPr/>
        </p:nvSpPr>
        <p:spPr>
          <a:xfrm>
            <a:off x="7571232" y="1600200"/>
            <a:ext cx="640080" cy="64008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28"/>
          <p:cNvSpPr/>
          <p:nvPr/>
        </p:nvSpPr>
        <p:spPr>
          <a:xfrm>
            <a:off x="7571232" y="160934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6952" y="2359152"/>
            <a:ext cx="548640" cy="54864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949440" y="2999232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Validates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6949440" y="3547872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queries database and returns verified or invalid status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91440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2788920" cy="1572768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78892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002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1563624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Verification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84048" y="2075688"/>
            <a:ext cx="2578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results compared to days-long manual checking processes.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18688" y="1417320"/>
            <a:ext cx="2788920" cy="1572768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3218688" y="1417320"/>
            <a:ext cx="2788920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6002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858768" y="1563624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&amp; Reliable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328416" y="2075688"/>
            <a:ext cx="2578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database with access controls prevents unauthorized changes.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788920" cy="1572768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6163056" y="1417320"/>
            <a:ext cx="278892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160020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03136" y="1563624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Forgery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72784" y="2075688"/>
            <a:ext cx="2578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QR codes and IDs are nearly impossible to replicate falsely.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274320" y="3154680"/>
            <a:ext cx="2788920" cy="1572768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274320" y="3154680"/>
            <a:ext cx="278892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33756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14400" y="3300984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Record Management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384048" y="3813048"/>
            <a:ext cx="2578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dashboard for full CRUD operations on all certificates.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3218688" y="3154680"/>
            <a:ext cx="2788920" cy="1572768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Shape 21"/>
          <p:cNvSpPr/>
          <p:nvPr/>
        </p:nvSpPr>
        <p:spPr>
          <a:xfrm>
            <a:off x="3218688" y="3154680"/>
            <a:ext cx="2788920" cy="6400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55848" y="3337560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858768" y="3300984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Anywhere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3328416" y="3813048"/>
            <a:ext cx="2578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Web-based portal accessible from any device — desktop or mobile.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6163056" y="3154680"/>
            <a:ext cx="2788920" cy="1572768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25"/>
          <p:cNvSpPr/>
          <p:nvPr/>
        </p:nvSpPr>
        <p:spPr>
          <a:xfrm>
            <a:off x="6163056" y="3154680"/>
            <a:ext cx="2788920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0216" y="3337560"/>
            <a:ext cx="411480" cy="41148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803136" y="3300984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6272784" y="3813048"/>
            <a:ext cx="2578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verification attempt is logged with timestamp and outcome.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2E46"/>
          </a:solidFill>
          <a:ln w="12700">
            <a:solidFill>
              <a:srgbClr val="1B2E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46304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2816352" cy="342900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816352" cy="9144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27632"/>
            <a:ext cx="594360" cy="594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5760" y="2304288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Integration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11480" y="2743200"/>
            <a:ext cx="251460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Immutable certificate storage on a decentralized blockchain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Eliminates any possibility of data tampering or deletion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Uses smart contracts for auto-issuance and validation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Industry-ready for cross-institution verification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18688" y="1417320"/>
            <a:ext cx="2816352" cy="342900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3218688" y="1417320"/>
            <a:ext cx="2816352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1627632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10128" y="2304288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Fraud Detection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355848" y="2743200"/>
            <a:ext cx="251460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Machine learning model trained on certificate patterns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Automatically flags suspicious or anomalous records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Continuous learning from new fraud attempts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Reduces manual review workload significantly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816352" cy="342900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6163056" y="1417320"/>
            <a:ext cx="2816352" cy="914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627632"/>
            <a:ext cx="594360" cy="5943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54496" y="2304288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Application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300216" y="2743200"/>
            <a:ext cx="251460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Dedicated Android &amp; iOS app for instant QR scanning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Push notifications for issuance and verification events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Offline certificate viewing with sync capabilities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Biometric admin login for enhanced security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914400" cy="4572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8503920" cy="123444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Certificate Verification System provides a robust, automated, and secure solution to eliminate fraudulent credentials. By combining PHP-MySQL backend, QR code technology, and email verification, the system delivers instant, reliable certificate validation while reducing institutional overhead significantly.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2788920"/>
            <a:ext cx="2798064" cy="201168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88920"/>
            <a:ext cx="2798064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11480" y="288036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Educational Institutions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310128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Eliminate fake degree fraud permanently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Centralized and auditable certificate registry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Reduce administrative workload by up to 80%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64408" y="2788920"/>
            <a:ext cx="2798064" cy="201168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264408" y="2788920"/>
            <a:ext cx="2798064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355848" y="288036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Employers &amp; Organizations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55848" y="3310128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Instant background verification in seconds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Confident hiring decisions backed by data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dependency on physical document checks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08776" y="2788920"/>
            <a:ext cx="2798064" cy="2011680"/>
          </a:xfrm>
          <a:prstGeom prst="rect">
            <a:avLst/>
          </a:prstGeom>
          <a:solidFill>
            <a:srgbClr val="0D1B2A"/>
          </a:solidFill>
          <a:ln w="12700">
            <a:solidFill>
              <a:srgbClr val="1B2E46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208776" y="2788920"/>
            <a:ext cx="2798064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300216" y="288036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Students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0216" y="3310128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Digital credentials always accessible online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Share verifiable proof of achievement globally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Secure personal record 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3749040" y="411480"/>
            <a:ext cx="164592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1945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200400" y="3396996"/>
            <a:ext cx="2743200" cy="36576"/>
          </a:xfrm>
          <a:prstGeom prst="rect">
            <a:avLst/>
          </a:prstGeom>
          <a:solidFill>
            <a:srgbClr val="A8C0E0"/>
          </a:solidFill>
          <a:ln w="12700">
            <a:solidFill>
              <a:srgbClr val="A8C0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57200" y="3566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Certificate Verification System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KARTHICK S  |  Dept. AI &amp; DS  |  VSB ENGINEERING COLLEGE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1121</Words>
  <Application>Microsoft Office PowerPoint</Application>
  <PresentationFormat>On-screen Show (16:9)</PresentationFormat>
  <Paragraphs>216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Certificate Verification System</dc:title>
  <dc:subject>PptxGenJS Presentation</dc:subject>
  <dc:creator>PptxGenJS</dc:creator>
  <cp:lastModifiedBy>KARTHICK S</cp:lastModifiedBy>
  <cp:revision>1</cp:revision>
  <dcterms:created xsi:type="dcterms:W3CDTF">2026-06-08T06:54:55Z</dcterms:created>
  <dcterms:modified xsi:type="dcterms:W3CDTF">2026-06-12T15:14:11Z</dcterms:modified>
</cp:coreProperties>
</file>